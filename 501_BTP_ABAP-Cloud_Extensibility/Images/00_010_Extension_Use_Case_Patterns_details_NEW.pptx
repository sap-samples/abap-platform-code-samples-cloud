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6"/>
  </p:notesMasterIdLst>
  <p:sldIdLst>
    <p:sldId id="365" r:id="rId4"/>
    <p:sldId id="36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  <p15:guide id="4" orient="horz" pos="2750" userDrawn="1">
          <p15:clr>
            <a:srgbClr val="A4A3A4"/>
          </p15:clr>
        </p15:guide>
        <p15:guide id="5" orient="horz" pos="1888" userDrawn="1">
          <p15:clr>
            <a:srgbClr val="A4A3A4"/>
          </p15:clr>
        </p15:guide>
        <p15:guide id="6" orient="horz" pos="2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A8FF"/>
    <a:srgbClr val="010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90" y="-1272"/>
      </p:cViewPr>
      <p:guideLst>
        <p:guide orient="horz" pos="2160"/>
        <p:guide pos="3840"/>
        <p:guide orient="horz" pos="2795"/>
        <p:guide orient="horz" pos="2750"/>
        <p:guide orient="horz" pos="1888"/>
        <p:guide orient="horz" pos="22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9898B-13AA-4374-949A-99FBFD7EDCB3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E500A-29DF-45D4-8F0C-1CE45F92A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4291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CF5852-FBA7-986B-5A25-8DE391742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DCD5E2-9903-1A45-F018-BC254B536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B7F580-6764-EB62-FFC4-114841EA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76985-B041-DF20-905C-639182B2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8D5F1-38CF-1816-A304-C37F8C53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1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A0294-8599-3D3B-57E5-92ECAB1E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A4096A-9502-1ADC-1C14-EF47C428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2132E2-1916-DA63-6D79-87F7061D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99EA3F-C933-A838-4F77-F33069AB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131630-E0DF-7BB5-1D34-8FE512D7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514208-65D9-E805-4173-84A73C68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1FAFE1-4665-09C0-8544-BC7D474A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22BB9-0F5C-F6CA-5A97-D3934253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832028-DC34-71E1-0A77-7223901F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DCCDB-89F5-1731-19D0-A71D6D40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E60A7-6CB9-BC48-B938-5013490E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80F913-62B3-2981-2C8D-5D8BC519E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F51BD9-0A48-0170-9688-C6530960A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BA5960-576A-2469-5844-39C748EA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17EFF0-C76A-03D4-07D4-4C40AEAA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9178EF-AB9F-C45F-02AE-02D6396D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25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EAEDE-6D38-4953-F104-67D1C031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B60934-1C2D-AC91-D51C-FE3A37250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2ECFBDF-8D34-60F4-DED1-C658C2928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E1238E-3C86-F6A0-BB20-2CA6F5E67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400268-EAED-77E1-FBC1-B7D0CAC22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58BB28-7B9B-5EBF-A0CC-D9D150A5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54974D-4BDA-9B2F-CB62-B9F3A1BC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2B29DD-61D5-0CB9-8FD8-F3597CAF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94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C7B4A-53C7-F734-AFE7-1E2BFDCF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5DF326-18D2-4DC0-633B-07097940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9ED1F7-DF0D-2EE4-42B9-C2FF3623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741A48-C934-FCD3-C88A-F13F37F1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43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3F14259-1FC1-07A3-FF61-FFC922A1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236FB3-3E85-FE0C-6E18-79574C69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58DC54-1A32-53EA-5592-D933AE40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4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4F69D-C433-0BA4-206C-8D1CA847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E10644-D757-3FD9-D7C7-E9F20BA8A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078971-029B-44A4-3540-DAB502717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A38160-1B89-849D-391B-6853D6B9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89AD98-4F49-9504-B07D-682FEE25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859BEC-3C7A-E32D-901F-9BDC4E7E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81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39465-9E31-BB49-542D-475A8A30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CF5843-905E-E9D5-A036-3958BD49B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651CF3-EAAD-88B2-06CB-86BDD58D5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0556A6-FF9D-B571-8D34-5E891451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5A1010-2603-CDE8-A567-37AC32D9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50C667-9AF5-DFE4-75FF-AFD38FE9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10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8A2C4-026C-B96B-D741-3DA8BB61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D43C11-67CE-17B6-A0A5-D032334E9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80F9A3-E507-2F8E-121A-27B64BC5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8467B-879D-85AA-8638-622E0B38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5A69B8-E443-5F40-F0D3-691A89FF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029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5417C49-D825-1041-2AC8-88BDA8F4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83971C-F629-409A-3431-D3B963A81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A78A8-F3ED-0CBF-C305-93F4BC1F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805DB8-4D6D-15E3-164D-6F007DD1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9FFB22-7987-DBB0-7F8C-FCF3F5B4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726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11183565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75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2681EA-E7AD-422F-FAA8-E480BFAD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8453AA-4338-FC98-6B9C-60DA468FA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81AFB0-385C-F5BB-9C99-A49B9A24D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5D851-D81F-478D-9245-6D808DBA2A04}" type="datetimeFigureOut">
              <a:rPr lang="de-DE" smtClean="0"/>
              <a:t>12.08.2025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414872-1149-1AA8-87C4-181872E1C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5DE3EB-DA17-DA75-357C-0A60DE24D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F3915-667F-46A9-AA37-879DD4C219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46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2.xml"/><Relationship Id="rId6" Type="http://schemas.openxmlformats.org/officeDocument/2006/relationships/hyperlink" Target="https://help.sap.com/docs/sap-btp-guidance-framework/extension-architecture-guide/getting-started-with-extensibility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6F877FB-6757-49DA-F125-E0E0AE681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3" y="1298657"/>
            <a:ext cx="10911658" cy="465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3870" y="504761"/>
            <a:ext cx="11183564" cy="369236"/>
          </a:xfrm>
        </p:spPr>
        <p:txBody>
          <a:bodyPr>
            <a:normAutofit fontScale="90000"/>
          </a:bodyPr>
          <a:lstStyle/>
          <a:p>
            <a:r>
              <a:rPr lang="en-US" dirty="0"/>
              <a:t>SAP S/4HANA Extensibility Overview  </a:t>
            </a:r>
            <a:r>
              <a:rPr lang="en-US" b="1" dirty="0">
                <a:solidFill>
                  <a:srgbClr val="FF0000"/>
                </a:solidFill>
              </a:rPr>
              <a:t>(ORIGINAL)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010F6-A2D9-3C3A-A6E3-3817D5AD5A80}"/>
              </a:ext>
            </a:extLst>
          </p:cNvPr>
          <p:cNvSpPr txBox="1"/>
          <p:nvPr/>
        </p:nvSpPr>
        <p:spPr>
          <a:xfrm>
            <a:off x="7792675" y="6245544"/>
            <a:ext cx="4258657" cy="215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Reference: </a:t>
            </a:r>
            <a:r>
              <a:rPr lang="en-US" sz="14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  <a:hlinkClick r:id="rId6"/>
              </a:rPr>
              <a:t>Extension Architecture Guide</a:t>
            </a:r>
            <a:endParaRPr lang="en-US" sz="1400" kern="0" dirty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998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150C9E6F-072F-C0E9-9B02-9B476C3078D2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10634661" y="3624594"/>
            <a:ext cx="1" cy="1218869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6C79EF2A-D441-90CF-8205-C428FE0EC6E6}"/>
              </a:ext>
            </a:extLst>
          </p:cNvPr>
          <p:cNvCxnSpPr>
            <a:cxnSpLocks/>
          </p:cNvCxnSpPr>
          <p:nvPr/>
        </p:nvCxnSpPr>
        <p:spPr>
          <a:xfrm flipV="1">
            <a:off x="9273062" y="3448023"/>
            <a:ext cx="0" cy="1119984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3B1FAB5C-997D-ADE8-A920-4417BD604142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7707814" y="4458607"/>
            <a:ext cx="0" cy="552717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8814EB16-C515-AB1E-C410-3289C09A2DA2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8371584" y="4568007"/>
            <a:ext cx="0" cy="446906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E9A2DC18-CB18-E7BD-6274-95B982B22CD3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8030049" y="3319629"/>
            <a:ext cx="0" cy="1119984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2A3CA67F-EE88-503C-B356-BE7F627F8C60}"/>
              </a:ext>
            </a:extLst>
          </p:cNvPr>
          <p:cNvCxnSpPr>
            <a:cxnSpLocks/>
            <a:stCxn id="82" idx="2"/>
          </p:cNvCxnSpPr>
          <p:nvPr/>
        </p:nvCxnSpPr>
        <p:spPr>
          <a:xfrm flipH="1">
            <a:off x="10587035" y="2663189"/>
            <a:ext cx="1" cy="71037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42D5F985-265C-4F21-06B0-2FFB21B2D28E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8442005" y="2659378"/>
            <a:ext cx="1" cy="66025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B5C62B93-ABBF-37B7-A32B-220FBB41B55D}"/>
              </a:ext>
            </a:extLst>
          </p:cNvPr>
          <p:cNvCxnSpPr>
            <a:cxnSpLocks/>
          </p:cNvCxnSpPr>
          <p:nvPr/>
        </p:nvCxnSpPr>
        <p:spPr>
          <a:xfrm flipH="1">
            <a:off x="4391821" y="1710488"/>
            <a:ext cx="2024904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61B6B26C-36C8-EE05-B952-418C3236D2C7}"/>
              </a:ext>
            </a:extLst>
          </p:cNvPr>
          <p:cNvCxnSpPr>
            <a:cxnSpLocks/>
          </p:cNvCxnSpPr>
          <p:nvPr/>
        </p:nvCxnSpPr>
        <p:spPr>
          <a:xfrm flipH="1">
            <a:off x="4429236" y="2044619"/>
            <a:ext cx="2024904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3263A15B-0519-94CC-ED45-E383EE9EAC34}"/>
              </a:ext>
            </a:extLst>
          </p:cNvPr>
          <p:cNvCxnSpPr>
            <a:cxnSpLocks/>
            <a:stCxn id="72" idx="1"/>
          </p:cNvCxnSpPr>
          <p:nvPr/>
        </p:nvCxnSpPr>
        <p:spPr>
          <a:xfrm flipH="1" flipV="1">
            <a:off x="6454140" y="1710488"/>
            <a:ext cx="548640" cy="1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0AC8F156-8ACE-F293-27C0-88E16F6357B6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6393180" y="2029581"/>
            <a:ext cx="609600" cy="1"/>
          </a:xfrm>
          <a:prstGeom prst="line">
            <a:avLst/>
          </a:prstGeom>
          <a:ln w="31750">
            <a:solidFill>
              <a:srgbClr val="29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B0849D9-D911-75D2-D480-E94C27734F99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938853" y="3148012"/>
            <a:ext cx="8537" cy="1310595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F0383DFB-F58E-786A-3664-E38CC35EBDBD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2497586" y="3319629"/>
            <a:ext cx="18156" cy="1138978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B4F9450-7B99-58EC-9367-FBE55B0EEA67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3409604" y="2166938"/>
            <a:ext cx="0" cy="2279549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6021BCA-E88D-2AC0-F1E1-2FBE2134819B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4422819" y="2225040"/>
            <a:ext cx="16510" cy="2214573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4EB909FD-C2EE-F820-93EB-D4B93D6EABFD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711770" y="2399393"/>
            <a:ext cx="0" cy="2059214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itle">
            <a:extLst>
              <a:ext uri="{FF2B5EF4-FFF2-40B4-BE49-F238E27FC236}">
                <a16:creationId xmlns:a16="http://schemas.microsoft.com/office/drawing/2014/main" id="{CD91DD9D-83A0-56FD-CE5C-4BDA05CCB8B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03870" y="504761"/>
            <a:ext cx="11183564" cy="369236"/>
          </a:xfrm>
        </p:spPr>
        <p:txBody>
          <a:bodyPr>
            <a:normAutofit fontScale="90000"/>
          </a:bodyPr>
          <a:lstStyle/>
          <a:p>
            <a:r>
              <a:rPr lang="en-US" dirty="0"/>
              <a:t>SAP S/4HANA Extensibility Overview  </a:t>
            </a:r>
            <a:r>
              <a:rPr lang="en-US" b="1" dirty="0">
                <a:solidFill>
                  <a:srgbClr val="FF0000"/>
                </a:solidFill>
              </a:rPr>
              <a:t>(FLIPPED)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FD6500-00A7-4B92-CB1B-2AE710E59640}"/>
              </a:ext>
            </a:extLst>
          </p:cNvPr>
          <p:cNvSpPr/>
          <p:nvPr/>
        </p:nvSpPr>
        <p:spPr>
          <a:xfrm>
            <a:off x="614365" y="1298656"/>
            <a:ext cx="4289365" cy="1215943"/>
          </a:xfrm>
          <a:prstGeom prst="rect">
            <a:avLst/>
          </a:prstGeom>
          <a:solidFill>
            <a:srgbClr val="010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dirty="0">
                <a:latin typeface="72 Brand Black" panose="020B0A04030603020204" pitchFamily="34" charset="0"/>
              </a:rPr>
              <a:t>SAP BTP</a:t>
            </a:r>
          </a:p>
          <a:p>
            <a:r>
              <a:rPr lang="de-DE" sz="1400" dirty="0">
                <a:latin typeface="72 Brand Black" panose="020B0A04030603020204" pitchFamily="34" charset="0"/>
              </a:rPr>
              <a:t>Side-</a:t>
            </a:r>
            <a:r>
              <a:rPr lang="de-DE" sz="1400" dirty="0" err="1">
                <a:latin typeface="72 Brand Black" panose="020B0A04030603020204" pitchFamily="34" charset="0"/>
              </a:rPr>
              <a:t>by</a:t>
            </a:r>
            <a:r>
              <a:rPr lang="de-DE" sz="1400" dirty="0">
                <a:latin typeface="72 Brand Black" panose="020B0A04030603020204" pitchFamily="34" charset="0"/>
              </a:rPr>
              <a:t>-</a:t>
            </a:r>
            <a:r>
              <a:rPr lang="de-DE" sz="1400" dirty="0" err="1">
                <a:latin typeface="72 Brand Black" panose="020B0A04030603020204" pitchFamily="34" charset="0"/>
              </a:rPr>
              <a:t>side</a:t>
            </a:r>
            <a:r>
              <a:rPr lang="de-DE" sz="1400" dirty="0">
                <a:latin typeface="72 Brand Black" panose="020B0A04030603020204" pitchFamily="34" charset="0"/>
              </a:rPr>
              <a:t> </a:t>
            </a:r>
            <a:r>
              <a:rPr lang="de-DE" sz="1400" dirty="0" err="1">
                <a:latin typeface="72 Brand Black" panose="020B0A04030603020204" pitchFamily="34" charset="0"/>
              </a:rPr>
              <a:t>extensibility</a:t>
            </a:r>
            <a:endParaRPr lang="de-DE" sz="1400" dirty="0">
              <a:latin typeface="72 Brand Black" panose="020B0A04030603020204" pitchFamily="34" charset="0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C63CE6D-7232-054C-8891-12DB8566150F}"/>
              </a:ext>
            </a:extLst>
          </p:cNvPr>
          <p:cNvSpPr/>
          <p:nvPr/>
        </p:nvSpPr>
        <p:spPr>
          <a:xfrm>
            <a:off x="613666" y="3709988"/>
            <a:ext cx="4289365" cy="65635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72 Brand Black" panose="020B0A04030603020204" pitchFamily="34" charset="0"/>
              </a:rPr>
              <a:t>SAP </a:t>
            </a:r>
            <a:r>
              <a:rPr lang="de-DE" dirty="0" err="1">
                <a:solidFill>
                  <a:schemeClr val="tx1"/>
                </a:solidFill>
                <a:latin typeface="72 Brand Black" panose="020B0A04030603020204" pitchFamily="34" charset="0"/>
              </a:rPr>
              <a:t>Build</a:t>
            </a:r>
            <a:endParaRPr lang="de-DE" dirty="0">
              <a:solidFill>
                <a:schemeClr val="tx1"/>
              </a:solidFill>
              <a:latin typeface="72 Brand Black" panose="020B0A04030603020204" pitchFamily="34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6BE8303-65C5-54C5-E75B-E74E4D1B92D6}"/>
              </a:ext>
            </a:extLst>
          </p:cNvPr>
          <p:cNvSpPr/>
          <p:nvPr/>
        </p:nvSpPr>
        <p:spPr>
          <a:xfrm>
            <a:off x="613666" y="3007789"/>
            <a:ext cx="2196209" cy="628924"/>
          </a:xfrm>
          <a:prstGeom prst="roundRect">
            <a:avLst/>
          </a:prstGeom>
          <a:solidFill>
            <a:srgbClr val="010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de-DE" sz="1200" b="1" dirty="0"/>
              <a:t>Create </a:t>
            </a:r>
            <a:r>
              <a:rPr lang="de-DE" sz="1200" b="1" dirty="0" err="1"/>
              <a:t>custom</a:t>
            </a:r>
            <a:r>
              <a:rPr lang="de-DE" sz="1200" b="1" dirty="0"/>
              <a:t> </a:t>
            </a:r>
            <a:r>
              <a:rPr lang="de-DE" sz="1200" b="1" dirty="0" err="1"/>
              <a:t>apps</a:t>
            </a:r>
            <a:endParaRPr lang="de-DE" sz="1200" b="1" dirty="0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372E30CD-D987-9882-FD0E-0A94F1614D39}"/>
              </a:ext>
            </a:extLst>
          </p:cNvPr>
          <p:cNvSpPr/>
          <p:nvPr/>
        </p:nvSpPr>
        <p:spPr>
          <a:xfrm>
            <a:off x="2946596" y="3014664"/>
            <a:ext cx="925317" cy="622049"/>
          </a:xfrm>
          <a:prstGeom prst="roundRect">
            <a:avLst/>
          </a:prstGeom>
          <a:solidFill>
            <a:srgbClr val="010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de-DE" b="1" dirty="0" err="1"/>
              <a:t>Automate</a:t>
            </a:r>
            <a:r>
              <a:rPr lang="de-DE" b="1" dirty="0"/>
              <a:t> </a:t>
            </a:r>
            <a:r>
              <a:rPr lang="de-DE" b="1" dirty="0" err="1"/>
              <a:t>tasks</a:t>
            </a:r>
            <a:r>
              <a:rPr lang="de-DE" b="1" dirty="0"/>
              <a:t> and </a:t>
            </a:r>
            <a:r>
              <a:rPr lang="de-DE" b="1" dirty="0" err="1"/>
              <a:t>processes</a:t>
            </a:r>
            <a:endParaRPr lang="de-DE" b="1" dirty="0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764E405-054D-0AEB-7A8F-6C7F3D320FFD}"/>
              </a:ext>
            </a:extLst>
          </p:cNvPr>
          <p:cNvSpPr/>
          <p:nvPr/>
        </p:nvSpPr>
        <p:spPr>
          <a:xfrm>
            <a:off x="3977712" y="3007789"/>
            <a:ext cx="925317" cy="628924"/>
          </a:xfrm>
          <a:prstGeom prst="roundRect">
            <a:avLst/>
          </a:prstGeom>
          <a:solidFill>
            <a:srgbClr val="0109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r>
              <a:rPr lang="de-DE" b="1" dirty="0"/>
              <a:t>Create digital </a:t>
            </a:r>
            <a:r>
              <a:rPr lang="de-DE" b="1" dirty="0" err="1"/>
              <a:t>workspaces</a:t>
            </a:r>
            <a:endParaRPr lang="de-DE" b="1" dirty="0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30BF0903-75FE-6C62-2D1A-3CB8D6ADE066}"/>
              </a:ext>
            </a:extLst>
          </p:cNvPr>
          <p:cNvSpPr/>
          <p:nvPr/>
        </p:nvSpPr>
        <p:spPr>
          <a:xfrm>
            <a:off x="613666" y="4458607"/>
            <a:ext cx="667447" cy="1491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rm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SAP </a:t>
            </a:r>
            <a:r>
              <a:rPr lang="de-DE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Apps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F09FF999-31EB-8204-0107-F02BDED7F0D6}"/>
              </a:ext>
            </a:extLst>
          </p:cNvPr>
          <p:cNvSpPr/>
          <p:nvPr/>
        </p:nvSpPr>
        <p:spPr>
          <a:xfrm>
            <a:off x="1378046" y="4458607"/>
            <a:ext cx="667447" cy="1491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rm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SAP </a:t>
            </a:r>
            <a:r>
              <a:rPr lang="de-DE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Code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28AC761D-772E-AF7F-247A-A16B63F6A0F6}"/>
              </a:ext>
            </a:extLst>
          </p:cNvPr>
          <p:cNvSpPr/>
          <p:nvPr/>
        </p:nvSpPr>
        <p:spPr>
          <a:xfrm>
            <a:off x="2142428" y="4458607"/>
            <a:ext cx="710315" cy="1491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rm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SAP BTP ABAP </a:t>
            </a:r>
            <a:r>
              <a:rPr lang="de-DE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Environment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0DDA2B8F-4DB0-C61D-AA5D-769087B9CED4}"/>
              </a:ext>
            </a:extLst>
          </p:cNvPr>
          <p:cNvSpPr/>
          <p:nvPr/>
        </p:nvSpPr>
        <p:spPr>
          <a:xfrm>
            <a:off x="2947294" y="4446487"/>
            <a:ext cx="924619" cy="14888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rm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SAP </a:t>
            </a:r>
            <a:r>
              <a:rPr lang="de-DE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  <a:endParaRPr lang="de-DE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de-DE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</a:t>
            </a:r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Automation</a:t>
            </a:r>
            <a:endParaRPr lang="de-DE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A09703D3-C01E-47E4-A157-78BDA0114675}"/>
              </a:ext>
            </a:extLst>
          </p:cNvPr>
          <p:cNvSpPr/>
          <p:nvPr/>
        </p:nvSpPr>
        <p:spPr>
          <a:xfrm>
            <a:off x="3960509" y="4439613"/>
            <a:ext cx="924619" cy="1488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rmAutofit/>
          </a:bodyPr>
          <a:lstStyle/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SAP </a:t>
            </a:r>
            <a:r>
              <a:rPr lang="de-DE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  <a:endParaRPr lang="de-DE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de-DE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Work Zone</a:t>
            </a:r>
          </a:p>
          <a:p>
            <a:pPr algn="ctr"/>
            <a:endParaRPr lang="de-DE" sz="17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97C3E0F-5734-38A0-3B6B-B185F40ACC3F}"/>
              </a:ext>
            </a:extLst>
          </p:cNvPr>
          <p:cNvSpPr/>
          <p:nvPr/>
        </p:nvSpPr>
        <p:spPr>
          <a:xfrm>
            <a:off x="7383522" y="1298656"/>
            <a:ext cx="4289365" cy="1215943"/>
          </a:xfrm>
          <a:prstGeom prst="rect">
            <a:avLst/>
          </a:prstGeom>
          <a:solidFill>
            <a:srgbClr val="29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72 Brand Black" panose="020B0A04030603020204" pitchFamily="34" charset="0"/>
              </a:rPr>
              <a:t>           SAP S/4HANA</a:t>
            </a:r>
          </a:p>
          <a:p>
            <a:r>
              <a:rPr lang="de-DE" dirty="0"/>
              <a:t>                              </a:t>
            </a:r>
            <a:r>
              <a:rPr lang="de-DE" sz="1400" dirty="0">
                <a:latin typeface="72 Brand Black" panose="020B0A04030603020204" pitchFamily="34" charset="0"/>
              </a:rPr>
              <a:t>On-</a:t>
            </a:r>
            <a:r>
              <a:rPr lang="de-DE" sz="1400" dirty="0" err="1">
                <a:latin typeface="72 Brand Black" panose="020B0A04030603020204" pitchFamily="34" charset="0"/>
              </a:rPr>
              <a:t>stack</a:t>
            </a:r>
            <a:r>
              <a:rPr lang="de-DE" sz="1400" dirty="0">
                <a:latin typeface="72 Brand Black" panose="020B0A04030603020204" pitchFamily="34" charset="0"/>
              </a:rPr>
              <a:t> </a:t>
            </a:r>
            <a:r>
              <a:rPr lang="de-DE" sz="1400" dirty="0" err="1">
                <a:latin typeface="72 Brand Black" panose="020B0A04030603020204" pitchFamily="34" charset="0"/>
              </a:rPr>
              <a:t>extensibility</a:t>
            </a:r>
            <a:endParaRPr lang="de-DE" sz="1400" dirty="0">
              <a:latin typeface="72 Brand Black" panose="020B0A04030603020204" pitchFamily="34" charset="0"/>
            </a:endParaRP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D1ACE491-D4BC-E94F-F9FE-89D9CD97BBA8}"/>
              </a:ext>
            </a:extLst>
          </p:cNvPr>
          <p:cNvSpPr/>
          <p:nvPr/>
        </p:nvSpPr>
        <p:spPr>
          <a:xfrm>
            <a:off x="5429251" y="1590675"/>
            <a:ext cx="1304924" cy="576263"/>
          </a:xfrm>
          <a:prstGeom prst="roundRect">
            <a:avLst/>
          </a:prstGeom>
          <a:gradFill>
            <a:gsLst>
              <a:gs pos="0">
                <a:srgbClr val="010973"/>
              </a:gs>
              <a:gs pos="100000">
                <a:srgbClr val="29A8FF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Create and </a:t>
            </a:r>
            <a:r>
              <a:rPr lang="de-DE" sz="1200" dirty="0" err="1"/>
              <a:t>enable</a:t>
            </a:r>
            <a:r>
              <a:rPr lang="de-DE" sz="1200" dirty="0"/>
              <a:t> Integration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3E336968-1EE1-AD2D-B83D-1D0E1A0E363E}"/>
              </a:ext>
            </a:extLst>
          </p:cNvPr>
          <p:cNvSpPr/>
          <p:nvPr/>
        </p:nvSpPr>
        <p:spPr>
          <a:xfrm>
            <a:off x="9596437" y="3014664"/>
            <a:ext cx="2076449" cy="609930"/>
          </a:xfrm>
          <a:prstGeom prst="roundRect">
            <a:avLst/>
          </a:prstGeom>
          <a:solidFill>
            <a:srgbClr val="29A8FF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de-DE" sz="1400" b="1" dirty="0">
                <a:solidFill>
                  <a:schemeClr val="bg1"/>
                </a:solidFill>
                <a:latin typeface="72 Brand" panose="020B0504030603020204" pitchFamily="34" charset="0"/>
              </a:rPr>
              <a:t>Create </a:t>
            </a:r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custom</a:t>
            </a:r>
            <a:r>
              <a:rPr lang="de-DE" sz="1400" b="1" dirty="0">
                <a:solidFill>
                  <a:schemeClr val="bg1"/>
                </a:solidFill>
                <a:latin typeface="72 Brand" panose="020B0504030603020204" pitchFamily="34" charset="0"/>
              </a:rPr>
              <a:t> </a:t>
            </a:r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apps</a:t>
            </a:r>
            <a:endParaRPr lang="de-DE" sz="1400" b="1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8CD2C00B-87E0-0002-3CC9-3B915714A7E3}"/>
              </a:ext>
            </a:extLst>
          </p:cNvPr>
          <p:cNvSpPr/>
          <p:nvPr/>
        </p:nvSpPr>
        <p:spPr>
          <a:xfrm>
            <a:off x="7382824" y="3014664"/>
            <a:ext cx="2118364" cy="609930"/>
          </a:xfrm>
          <a:prstGeom prst="roundRect">
            <a:avLst/>
          </a:prstGeom>
          <a:solidFill>
            <a:srgbClr val="29A8FF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Adapt</a:t>
            </a:r>
            <a:r>
              <a:rPr lang="de-DE" sz="1400" b="1" dirty="0">
                <a:solidFill>
                  <a:schemeClr val="bg1"/>
                </a:solidFill>
                <a:latin typeface="72 Brand" panose="020B0504030603020204" pitchFamily="34" charset="0"/>
              </a:rPr>
              <a:t> and </a:t>
            </a:r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extend</a:t>
            </a:r>
            <a:r>
              <a:rPr lang="de-DE" sz="1400" b="1" dirty="0">
                <a:solidFill>
                  <a:schemeClr val="bg1"/>
                </a:solidFill>
                <a:latin typeface="72 Brand" panose="020B0504030603020204" pitchFamily="34" charset="0"/>
              </a:rPr>
              <a:t> </a:t>
            </a:r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standard</a:t>
            </a:r>
            <a:r>
              <a:rPr lang="de-DE" sz="1400" b="1" dirty="0">
                <a:solidFill>
                  <a:schemeClr val="bg1"/>
                </a:solidFill>
                <a:latin typeface="72 Brand" panose="020B0504030603020204" pitchFamily="34" charset="0"/>
              </a:rPr>
              <a:t> </a:t>
            </a:r>
            <a:r>
              <a:rPr lang="de-DE" sz="1400" b="1" dirty="0" err="1">
                <a:solidFill>
                  <a:schemeClr val="bg1"/>
                </a:solidFill>
                <a:latin typeface="72 Brand" panose="020B0504030603020204" pitchFamily="34" charset="0"/>
              </a:rPr>
              <a:t>apps</a:t>
            </a:r>
            <a:endParaRPr lang="de-DE" sz="1400" b="1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9B97FC19-C9F9-1F4D-B572-82B62A6AB5A5}"/>
              </a:ext>
            </a:extLst>
          </p:cNvPr>
          <p:cNvSpPr/>
          <p:nvPr/>
        </p:nvSpPr>
        <p:spPr>
          <a:xfrm>
            <a:off x="7382823" y="3709988"/>
            <a:ext cx="4289365" cy="644231"/>
          </a:xfrm>
          <a:prstGeom prst="roundRect">
            <a:avLst/>
          </a:prstGeom>
          <a:solidFill>
            <a:schemeClr val="bg2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72 Brand" panose="020B0504030603020204" pitchFamily="34" charset="0"/>
              </a:rPr>
              <a:t>SAP </a:t>
            </a:r>
            <a:r>
              <a:rPr lang="de-DE" sz="1400" b="1" dirty="0" err="1">
                <a:solidFill>
                  <a:schemeClr val="tx1"/>
                </a:solidFill>
                <a:latin typeface="72 Brand" panose="020B0504030603020204" pitchFamily="34" charset="0"/>
              </a:rPr>
              <a:t>Build</a:t>
            </a:r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14364C9A-2EA9-518D-3BD1-050CD1E60E9A}"/>
              </a:ext>
            </a:extLst>
          </p:cNvPr>
          <p:cNvSpPr/>
          <p:nvPr/>
        </p:nvSpPr>
        <p:spPr>
          <a:xfrm>
            <a:off x="7382823" y="4439613"/>
            <a:ext cx="1294452" cy="486317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72 Brand" panose="020B0504030603020204" pitchFamily="34" charset="0"/>
              </a:rPr>
              <a:t>SAPUI5 </a:t>
            </a:r>
            <a:r>
              <a:rPr lang="de-DE" sz="1400" b="1" dirty="0" err="1">
                <a:solidFill>
                  <a:schemeClr val="tx1"/>
                </a:solidFill>
                <a:latin typeface="72 Brand" panose="020B0504030603020204" pitchFamily="34" charset="0"/>
              </a:rPr>
              <a:t>Flexibility</a:t>
            </a:r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F68D5949-7AC8-46A1-3134-A1AD8E64C894}"/>
              </a:ext>
            </a:extLst>
          </p:cNvPr>
          <p:cNvSpPr/>
          <p:nvPr/>
        </p:nvSpPr>
        <p:spPr>
          <a:xfrm>
            <a:off x="8065892" y="5014913"/>
            <a:ext cx="611384" cy="900112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de-DE" sz="900" b="1" dirty="0">
                <a:solidFill>
                  <a:schemeClr val="tx1"/>
                </a:solidFill>
              </a:rPr>
              <a:t>Developer </a:t>
            </a:r>
            <a:r>
              <a:rPr lang="de-DE" sz="800" b="1" dirty="0">
                <a:solidFill>
                  <a:schemeClr val="tx1"/>
                </a:solidFill>
              </a:rPr>
              <a:t>Adaptation</a:t>
            </a:r>
            <a:endParaRPr lang="de-DE" sz="1100" b="1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6044D7D1-218E-3208-3141-87C5D3147C6D}"/>
              </a:ext>
            </a:extLst>
          </p:cNvPr>
          <p:cNvSpPr/>
          <p:nvPr/>
        </p:nvSpPr>
        <p:spPr>
          <a:xfrm>
            <a:off x="7402122" y="5011324"/>
            <a:ext cx="611384" cy="900112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de-DE" sz="900" b="1" dirty="0">
                <a:solidFill>
                  <a:schemeClr val="tx1"/>
                </a:solidFill>
              </a:rPr>
              <a:t>Key User </a:t>
            </a:r>
            <a:r>
              <a:rPr lang="de-DE" sz="800" b="1" dirty="0">
                <a:solidFill>
                  <a:schemeClr val="tx1"/>
                </a:solidFill>
              </a:rPr>
              <a:t>Adaptation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514D2E33-E0A6-773D-502E-6778C10C1396}"/>
              </a:ext>
            </a:extLst>
          </p:cNvPr>
          <p:cNvSpPr/>
          <p:nvPr/>
        </p:nvSpPr>
        <p:spPr>
          <a:xfrm>
            <a:off x="8791575" y="4439613"/>
            <a:ext cx="2880613" cy="1510917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>
            <a:normAutofit/>
          </a:bodyPr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72 Brand" panose="020B0504030603020204" pitchFamily="34" charset="0"/>
              </a:rPr>
              <a:t>SAP S/4HANA Cloud </a:t>
            </a:r>
            <a:br>
              <a:rPr lang="de-DE" sz="1400" b="1" dirty="0">
                <a:solidFill>
                  <a:schemeClr val="tx1"/>
                </a:solidFill>
                <a:latin typeface="72 Brand" panose="020B0504030603020204" pitchFamily="34" charset="0"/>
              </a:rPr>
            </a:br>
            <a:r>
              <a:rPr lang="de-DE" sz="1400" b="1" dirty="0">
                <a:solidFill>
                  <a:schemeClr val="tx1"/>
                </a:solidFill>
                <a:latin typeface="72 Brand" panose="020B0504030603020204" pitchFamily="34" charset="0"/>
              </a:rPr>
              <a:t>ABAP Environment</a:t>
            </a:r>
          </a:p>
          <a:p>
            <a:pPr algn="ctr"/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ctr"/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ctr"/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ctr"/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D647DE0-CFB5-6F26-FC38-04C93E9C9EDA}"/>
              </a:ext>
            </a:extLst>
          </p:cNvPr>
          <p:cNvSpPr txBox="1"/>
          <p:nvPr/>
        </p:nvSpPr>
        <p:spPr>
          <a:xfrm>
            <a:off x="1361485" y="5517713"/>
            <a:ext cx="6431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CAP &amp; </a:t>
            </a:r>
            <a:br>
              <a:rPr lang="de-DE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SAPUI5</a:t>
            </a:r>
          </a:p>
          <a:p>
            <a:endParaRPr lang="de-DE" sz="9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54B55CF-4E02-7D49-95D4-E252B8DEF8FC}"/>
              </a:ext>
            </a:extLst>
          </p:cNvPr>
          <p:cNvSpPr txBox="1"/>
          <p:nvPr/>
        </p:nvSpPr>
        <p:spPr>
          <a:xfrm>
            <a:off x="579189" y="5540573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 Code</a:t>
            </a:r>
          </a:p>
          <a:p>
            <a:endParaRPr lang="de-DE" sz="10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D61EAA7-50A1-2F02-8807-6A34617E3C5B}"/>
              </a:ext>
            </a:extLst>
          </p:cNvPr>
          <p:cNvSpPr txBox="1"/>
          <p:nvPr/>
        </p:nvSpPr>
        <p:spPr>
          <a:xfrm>
            <a:off x="2102748" y="5540573"/>
            <a:ext cx="811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ABAP Cloud</a:t>
            </a:r>
            <a:endParaRPr lang="de-DE" sz="900" dirty="0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BFA8012C-AB95-819D-A572-3590E67DFF54}"/>
              </a:ext>
            </a:extLst>
          </p:cNvPr>
          <p:cNvSpPr txBox="1"/>
          <p:nvPr/>
        </p:nvSpPr>
        <p:spPr>
          <a:xfrm>
            <a:off x="3028488" y="5540572"/>
            <a:ext cx="7585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 Code</a:t>
            </a:r>
          </a:p>
          <a:p>
            <a:endParaRPr lang="de-DE" sz="7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1E76688-A7BD-A3D7-7CF0-36903CB376E8}"/>
              </a:ext>
            </a:extLst>
          </p:cNvPr>
          <p:cNvSpPr txBox="1"/>
          <p:nvPr/>
        </p:nvSpPr>
        <p:spPr>
          <a:xfrm>
            <a:off x="4043546" y="5540571"/>
            <a:ext cx="7585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Low Code</a:t>
            </a:r>
          </a:p>
          <a:p>
            <a:endParaRPr lang="de-DE" sz="700" dirty="0"/>
          </a:p>
        </p:txBody>
      </p:sp>
      <p:sp>
        <p:nvSpPr>
          <p:cNvPr id="72" name="Rechteck: abgerundete Ecken 71">
            <a:extLst>
              <a:ext uri="{FF2B5EF4-FFF2-40B4-BE49-F238E27FC236}">
                <a16:creationId xmlns:a16="http://schemas.microsoft.com/office/drawing/2014/main" id="{BF5A755B-A521-AE7A-AC71-F9365811D943}"/>
              </a:ext>
            </a:extLst>
          </p:cNvPr>
          <p:cNvSpPr/>
          <p:nvPr/>
        </p:nvSpPr>
        <p:spPr>
          <a:xfrm>
            <a:off x="7002780" y="1561898"/>
            <a:ext cx="1600361" cy="29718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tx1"/>
                </a:solidFill>
              </a:rPr>
              <a:t>Remote Public SAP APIs</a:t>
            </a:r>
          </a:p>
        </p:txBody>
      </p: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B79C6430-91AA-24A6-AD12-8EBEE4E1162D}"/>
              </a:ext>
            </a:extLst>
          </p:cNvPr>
          <p:cNvSpPr/>
          <p:nvPr/>
        </p:nvSpPr>
        <p:spPr>
          <a:xfrm>
            <a:off x="7002780" y="1880991"/>
            <a:ext cx="1600361" cy="29718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tx1"/>
                </a:solidFill>
              </a:rPr>
              <a:t>Remote Custom APIs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D2CE0C82-1474-D57B-BB5C-0270AA8AE3D1}"/>
              </a:ext>
            </a:extLst>
          </p:cNvPr>
          <p:cNvSpPr/>
          <p:nvPr/>
        </p:nvSpPr>
        <p:spPr>
          <a:xfrm>
            <a:off x="7512326" y="2362197"/>
            <a:ext cx="1859359" cy="29718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tx1"/>
                </a:solidFill>
              </a:rPr>
              <a:t>Public SAP </a:t>
            </a:r>
            <a:r>
              <a:rPr lang="de-DE" sz="1000" b="1" dirty="0" err="1">
                <a:solidFill>
                  <a:schemeClr val="tx1"/>
                </a:solidFill>
              </a:rPr>
              <a:t>extension</a:t>
            </a:r>
            <a:r>
              <a:rPr lang="de-DE" sz="1000" b="1" dirty="0">
                <a:solidFill>
                  <a:schemeClr val="tx1"/>
                </a:solidFill>
              </a:rPr>
              <a:t> </a:t>
            </a:r>
            <a:r>
              <a:rPr lang="de-DE" sz="1000" b="1" dirty="0" err="1">
                <a:solidFill>
                  <a:schemeClr val="tx1"/>
                </a:solidFill>
              </a:rPr>
              <a:t>points</a:t>
            </a:r>
            <a:endParaRPr lang="de-DE" sz="1000" b="1" dirty="0">
              <a:solidFill>
                <a:schemeClr val="tx1"/>
              </a:solidFill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7367B44D-621E-0C42-309F-AEAD5ADF09AD}"/>
              </a:ext>
            </a:extLst>
          </p:cNvPr>
          <p:cNvSpPr/>
          <p:nvPr/>
        </p:nvSpPr>
        <p:spPr>
          <a:xfrm>
            <a:off x="9786855" y="2366008"/>
            <a:ext cx="1600361" cy="29718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tx1"/>
                </a:solidFill>
              </a:rPr>
              <a:t>Local</a:t>
            </a:r>
            <a:r>
              <a:rPr lang="de-DE" sz="1000" b="1" dirty="0">
                <a:solidFill>
                  <a:schemeClr val="tx1"/>
                </a:solidFill>
              </a:rPr>
              <a:t> Public SAP APIs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298DD299-5392-650B-330D-371FD9F238D2}"/>
              </a:ext>
            </a:extLst>
          </p:cNvPr>
          <p:cNvSpPr/>
          <p:nvPr/>
        </p:nvSpPr>
        <p:spPr>
          <a:xfrm>
            <a:off x="9890760" y="5014913"/>
            <a:ext cx="1686877" cy="833437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de-DE" sz="1300" b="1" dirty="0">
                <a:solidFill>
                  <a:schemeClr val="tx1"/>
                </a:solidFill>
                <a:latin typeface="72 Brand" panose="020B0504030603020204" pitchFamily="34" charset="0"/>
              </a:rPr>
              <a:t>Developer </a:t>
            </a:r>
          </a:p>
          <a:p>
            <a:pPr algn="ctr"/>
            <a:r>
              <a:rPr lang="de-DE" sz="1300" b="1" dirty="0" err="1">
                <a:solidFill>
                  <a:schemeClr val="tx1"/>
                </a:solidFill>
                <a:latin typeface="72 Brand" panose="020B0504030603020204" pitchFamily="34" charset="0"/>
              </a:rPr>
              <a:t>Extensibility</a:t>
            </a:r>
            <a:r>
              <a:rPr lang="de-DE" sz="1300" b="1" dirty="0">
                <a:solidFill>
                  <a:schemeClr val="tx1"/>
                </a:solidFill>
                <a:latin typeface="72 Brand" panose="020B0504030603020204" pitchFamily="34" charset="0"/>
              </a:rPr>
              <a:t> </a:t>
            </a:r>
            <a:br>
              <a:rPr lang="de-DE" sz="1200" b="1" dirty="0">
                <a:solidFill>
                  <a:schemeClr val="tx1"/>
                </a:solidFill>
                <a:latin typeface="72 Brand" panose="020B0504030603020204" pitchFamily="34" charset="0"/>
              </a:rPr>
            </a:br>
            <a:br>
              <a:rPr lang="de-DE" sz="1200" b="1" dirty="0">
                <a:solidFill>
                  <a:schemeClr val="tx1"/>
                </a:solidFill>
                <a:latin typeface="72 Brand" panose="020B0504030603020204" pitchFamily="34" charset="0"/>
              </a:rPr>
            </a:br>
            <a:r>
              <a:rPr lang="de-DE" sz="1200" b="1" dirty="0">
                <a:solidFill>
                  <a:schemeClr val="tx1"/>
                </a:solidFill>
                <a:latin typeface="72 Brand" panose="020B0504030603020204" pitchFamily="34" charset="0"/>
              </a:rPr>
              <a:t>ABAP Cloud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BC70ED15-5A68-8812-81FB-B198C5DEB1EF}"/>
              </a:ext>
            </a:extLst>
          </p:cNvPr>
          <p:cNvSpPr/>
          <p:nvPr/>
        </p:nvSpPr>
        <p:spPr>
          <a:xfrm>
            <a:off x="8880279" y="5014913"/>
            <a:ext cx="924511" cy="833437"/>
          </a:xfrm>
          <a:prstGeom prst="roundRect">
            <a:avLst/>
          </a:prstGeom>
          <a:solidFill>
            <a:schemeClr val="bg1"/>
          </a:solidFill>
          <a:ln>
            <a:solidFill>
              <a:srgbClr val="29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de-DE" sz="1300" b="1" dirty="0">
                <a:solidFill>
                  <a:schemeClr val="tx1"/>
                </a:solidFill>
                <a:latin typeface="72 Brand" panose="020B0504030603020204" pitchFamily="34" charset="0"/>
              </a:rPr>
              <a:t>Key User </a:t>
            </a:r>
            <a:r>
              <a:rPr lang="de-DE" sz="1300" b="1" dirty="0" err="1">
                <a:solidFill>
                  <a:schemeClr val="tx1"/>
                </a:solidFill>
                <a:latin typeface="72 Brand" panose="020B0504030603020204" pitchFamily="34" charset="0"/>
              </a:rPr>
              <a:t>Extensibility</a:t>
            </a:r>
            <a:endParaRPr lang="de-DE" sz="13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ctr"/>
            <a:br>
              <a:rPr lang="de-DE" sz="1300" b="1" dirty="0">
                <a:solidFill>
                  <a:schemeClr val="tx1"/>
                </a:solidFill>
                <a:latin typeface="72 Brand" panose="020B0504030603020204" pitchFamily="34" charset="0"/>
              </a:rPr>
            </a:br>
            <a:r>
              <a:rPr lang="de-DE" sz="1300" b="1" dirty="0">
                <a:solidFill>
                  <a:schemeClr val="tx1"/>
                </a:solidFill>
                <a:latin typeface="72 Brand" panose="020B0504030603020204" pitchFamily="34" charset="0"/>
              </a:rPr>
              <a:t>ABAP Cloud</a:t>
            </a:r>
            <a:endParaRPr lang="de-DE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317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5C09B60-48D8-4BDC-876B-D69D6A6EDF0E}">
  <ds:schemaRefs/>
</ds:datastoreItem>
</file>

<file path=customXml/itemProps2.xml><?xml version="1.0" encoding="utf-8"?>
<ds:datastoreItem xmlns:ds="http://schemas.openxmlformats.org/officeDocument/2006/customXml" ds:itemID="{6EEADEEC-99DD-46DB-B44B-A14E09414CF5}">
  <ds:schemaRefs/>
</ds:datastoreItem>
</file>

<file path=docMetadata/LabelInfo.xml><?xml version="1.0" encoding="utf-8"?>
<clbl:labelList xmlns:clbl="http://schemas.microsoft.com/office/2020/mipLabelMetadata">
  <clbl:label id="{09eb91d0-4369-4b4c-b70d-2187f16db368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Breitbild</PresentationFormat>
  <Paragraphs>42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72 Brand</vt:lpstr>
      <vt:lpstr>72 Brand Black</vt:lpstr>
      <vt:lpstr>Aptos</vt:lpstr>
      <vt:lpstr>Aptos Display</vt:lpstr>
      <vt:lpstr>Arial</vt:lpstr>
      <vt:lpstr>Office</vt:lpstr>
      <vt:lpstr>SAP S/4HANA Extensibility Overview  (ORIGINAL)</vt:lpstr>
      <vt:lpstr>SAP S/4HANA Extensibility Overview  (FLIPPED)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Daub, Stephan</dc:creator>
  <dc:description>Adopted by Stephan Daub</dc:description>
  <cp:lastModifiedBy>Daub, Stephan</cp:lastModifiedBy>
  <cp:revision>17</cp:revision>
  <dcterms:created xsi:type="dcterms:W3CDTF">2025-08-12T07:31:55Z</dcterms:created>
  <dcterms:modified xsi:type="dcterms:W3CDTF">2025-08-12T14:02:27Z</dcterms:modified>
</cp:coreProperties>
</file>